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1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1999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Master" Target="slideMasters/slideMaster1.xml"/><Relationship Id="rId12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role_access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architecture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order_workflow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forecast_trend.pn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category_distribution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Accent"/>
          <p:cNvSpPr/>
          <p:nvPr/>
        </p:nvSpPr>
        <p:spPr>
          <a:xfrm>
            <a:off x="0" y="0"/>
            <a:ext cx="12191999" cy="152400"/>
          </a:xfrm>
          <a:prstGeom prst="rect">
            <a:avLst/>
          </a:prstGeom>
          <a:solidFill>
            <a:srgbClr val="1E8A8A"/>
          </a:solidFill>
          <a:ln>
            <a:noFill/>
          </a:ln>
        </p:spPr>
      </p:sp>
      <p:sp>
        <p:nvSpPr>
          <p:cNvPr id="2" name="Text 2"/>
          <p:cNvSpPr txBox="1"/>
          <p:nvPr/>
        </p:nvSpPr>
        <p:spPr>
          <a:xfrm>
            <a:off x="685800" y="515000"/>
            <a:ext cx="88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3400" b="1">
                <a:solidFill>
                  <a:srgbClr val="162033"/>
                </a:solidFill>
                <a:latin typeface="Aptos"/>
              </a:rPr>
              <a:t>Smart Commerce</a:t>
            </a:r>
            <a:endParaRPr lang="en-US" sz="3400"/>
          </a:p>
        </p:txBody>
      </p:sp>
      <p:sp>
        <p:nvSpPr>
          <p:cNvPr id="3" name="Text 3"/>
          <p:cNvSpPr txBox="1"/>
          <p:nvPr/>
        </p:nvSpPr>
        <p:spPr>
          <a:xfrm>
            <a:off x="685800" y="1300000"/>
            <a:ext cx="76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2000" b="1">
                <a:solidFill>
                  <a:srgbClr val="1E8A8A"/>
                </a:solidFill>
                <a:latin typeface="Aptos"/>
              </a:rPr>
              <a:t>Problem Solving Presentation</a:t>
            </a:r>
            <a:endParaRPr lang="en-US" sz="2000"/>
          </a:p>
        </p:txBody>
      </p:sp>
      <p:sp>
        <p:nvSpPr>
          <p:cNvPr id="4" name="Bullets 4"/>
          <p:cNvSpPr txBox="1"/>
          <p:nvPr/>
        </p:nvSpPr>
        <p:spPr>
          <a:xfrm>
            <a:off x="685800" y="2100000"/>
            <a:ext cx="9800000" cy="2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285750" indent="-171450">
              <a:buChar char="•"/>
            </a:pPr>
            <a:r>
              <a:rPr lang="en-US" sz="2200">
                <a:solidFill>
                  <a:srgbClr val="263142"/>
                </a:solidFill>
                <a:latin typeface="Aptos"/>
              </a:rPr>
              <a:t>AI-driven e-commerce platform for smarter selling</a:t>
            </a:r>
            <a:endParaRPr lang="en-US" sz="2200"/>
          </a:p>
          <a:p>
            <a:pPr marL="285750" indent="-171450">
              <a:buChar char="•"/>
            </a:pPr>
            <a:r>
              <a:rPr lang="en-US" sz="2200">
                <a:solidFill>
                  <a:srgbClr val="263142"/>
                </a:solidFill>
                <a:latin typeface="Aptos"/>
              </a:rPr>
              <a:t>Role-based workflows for admin, vendor, and customer</a:t>
            </a:r>
            <a:endParaRPr lang="en-US" sz="2200"/>
          </a:p>
          <a:p>
            <a:pPr marL="285750" indent="-171450">
              <a:buChar char="•"/>
            </a:pPr>
            <a:r>
              <a:rPr lang="en-US" sz="2200">
                <a:solidFill>
                  <a:srgbClr val="263142"/>
                </a:solidFill>
                <a:latin typeface="Aptos"/>
              </a:rPr>
              <a:t>Inventory, orders, analytics, and demand forecasting in one system</a:t>
            </a:r>
            <a:endParaRPr lang="en-US" sz="2200"/>
          </a:p>
        </p:txBody>
      </p:sp>
      <p:sp>
        <p:nvSpPr>
          <p:cNvPr id="91" name="Text 91"/>
          <p:cNvSpPr txBox="1"/>
          <p:nvPr/>
        </p:nvSpPr>
        <p:spPr>
          <a:xfrm>
            <a:off x="685800" y="6500000"/>
            <a:ext cx="22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200" b="0">
                <a:solidFill>
                  <a:srgbClr val="637083"/>
                </a:solidFill>
                <a:latin typeface="Aptos"/>
              </a:rPr>
              <a:t>01</a:t>
            </a:r>
            <a:endParaRPr lang="en-US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Accent"/>
          <p:cNvSpPr/>
          <p:nvPr/>
        </p:nvSpPr>
        <p:spPr>
          <a:xfrm>
            <a:off x="0" y="0"/>
            <a:ext cx="12191999" cy="152400"/>
          </a:xfrm>
          <a:prstGeom prst="rect">
            <a:avLst/>
          </a:prstGeom>
          <a:solidFill>
            <a:srgbClr val="1E8A8A"/>
          </a:solidFill>
          <a:ln>
            <a:noFill/>
          </a:ln>
        </p:spPr>
      </p:sp>
      <p:sp>
        <p:nvSpPr>
          <p:cNvPr id="2" name="Text 2"/>
          <p:cNvSpPr txBox="1"/>
          <p:nvPr/>
        </p:nvSpPr>
        <p:spPr>
          <a:xfrm>
            <a:off x="685800" y="515000"/>
            <a:ext cx="88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3400" b="1">
                <a:solidFill>
                  <a:srgbClr val="162033"/>
                </a:solidFill>
                <a:latin typeface="Aptos"/>
              </a:rPr>
              <a:t>Problem</a:t>
            </a:r>
            <a:endParaRPr lang="en-US" sz="3400"/>
          </a:p>
        </p:txBody>
      </p:sp>
      <p:sp>
        <p:nvSpPr>
          <p:cNvPr id="3" name="Bullets 3"/>
          <p:cNvSpPr txBox="1"/>
          <p:nvPr/>
        </p:nvSpPr>
        <p:spPr>
          <a:xfrm>
            <a:off x="1050000" y="1650000"/>
            <a:ext cx="10300000" cy="3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285750" indent="-171450">
              <a:buChar char="•"/>
            </a:pPr>
            <a:r>
              <a:rPr lang="en-US" sz="2200">
                <a:solidFill>
                  <a:srgbClr val="263142"/>
                </a:solidFill>
                <a:latin typeface="Aptos"/>
              </a:rPr>
              <a:t>Small and medium sellers often manage products, stock, and orders manually.</a:t>
            </a:r>
            <a:endParaRPr lang="en-US" sz="2200"/>
          </a:p>
          <a:p>
            <a:pPr marL="285750" indent="-171450">
              <a:buChar char="•"/>
            </a:pPr>
            <a:r>
              <a:rPr lang="en-US" sz="2200">
                <a:solidFill>
                  <a:srgbClr val="263142"/>
                </a:solidFill>
                <a:latin typeface="Aptos"/>
              </a:rPr>
              <a:t>Teams lack a single view of inventory risk, customer demand, and order progress.</a:t>
            </a:r>
            <a:endParaRPr lang="en-US" sz="2200"/>
          </a:p>
          <a:p>
            <a:pPr marL="285750" indent="-171450">
              <a:buChar char="•"/>
            </a:pPr>
            <a:r>
              <a:rPr lang="en-US" sz="2200">
                <a:solidFill>
                  <a:srgbClr val="263142"/>
                </a:solidFill>
                <a:latin typeface="Aptos"/>
              </a:rPr>
              <a:t>Late restocking and weak visibility reduce sales, trust, and operational control.</a:t>
            </a:r>
            <a:endParaRPr lang="en-US" sz="2200"/>
          </a:p>
        </p:txBody>
      </p:sp>
      <p:sp>
        <p:nvSpPr>
          <p:cNvPr id="91" name="Text 91"/>
          <p:cNvSpPr txBox="1"/>
          <p:nvPr/>
        </p:nvSpPr>
        <p:spPr>
          <a:xfrm>
            <a:off x="685800" y="6500000"/>
            <a:ext cx="22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200" b="0">
                <a:solidFill>
                  <a:srgbClr val="637083"/>
                </a:solidFill>
                <a:latin typeface="Aptos"/>
              </a:rPr>
              <a:t>02</a:t>
            </a:r>
            <a:endParaRPr lang="en-US"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Accent"/>
          <p:cNvSpPr/>
          <p:nvPr/>
        </p:nvSpPr>
        <p:spPr>
          <a:xfrm>
            <a:off x="0" y="0"/>
            <a:ext cx="12191999" cy="152400"/>
          </a:xfrm>
          <a:prstGeom prst="rect">
            <a:avLst/>
          </a:prstGeom>
          <a:solidFill>
            <a:srgbClr val="1E8A8A"/>
          </a:solidFill>
          <a:ln>
            <a:noFill/>
          </a:ln>
        </p:spPr>
      </p:sp>
      <p:sp>
        <p:nvSpPr>
          <p:cNvPr id="2" name="Text 2"/>
          <p:cNvSpPr txBox="1"/>
          <p:nvPr/>
        </p:nvSpPr>
        <p:spPr>
          <a:xfrm>
            <a:off x="685800" y="515000"/>
            <a:ext cx="88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3400" b="1">
                <a:solidFill>
                  <a:srgbClr val="162033"/>
                </a:solidFill>
                <a:latin typeface="Aptos"/>
              </a:rPr>
              <a:t>Project Goal</a:t>
            </a:r>
            <a:endParaRPr lang="en-US" sz="3400"/>
          </a:p>
        </p:txBody>
      </p:sp>
      <p:sp>
        <p:nvSpPr>
          <p:cNvPr id="3" name="Bullets 3"/>
          <p:cNvSpPr txBox="1"/>
          <p:nvPr/>
        </p:nvSpPr>
        <p:spPr>
          <a:xfrm>
            <a:off x="1050000" y="1650000"/>
            <a:ext cx="10300000" cy="3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285750" indent="-171450">
              <a:buChar char="•"/>
            </a:pPr>
            <a:r>
              <a:rPr lang="en-US" sz="2200">
                <a:solidFill>
                  <a:srgbClr val="263142"/>
                </a:solidFill>
                <a:latin typeface="Aptos"/>
              </a:rPr>
              <a:t>Build a professional full-stack commerce platform.</a:t>
            </a:r>
            <a:endParaRPr lang="en-US" sz="2200"/>
          </a:p>
          <a:p>
            <a:pPr marL="285750" indent="-171450">
              <a:buChar char="•"/>
            </a:pPr>
            <a:r>
              <a:rPr lang="en-US" sz="2200">
                <a:solidFill>
                  <a:srgbClr val="263142"/>
                </a:solidFill>
                <a:latin typeface="Aptos"/>
              </a:rPr>
              <a:t>Make daily operations easier for admins, vendors, and customers.</a:t>
            </a:r>
            <a:endParaRPr lang="en-US" sz="2200"/>
          </a:p>
          <a:p>
            <a:pPr marL="285750" indent="-171450">
              <a:buChar char="•"/>
            </a:pPr>
            <a:r>
              <a:rPr lang="en-US" sz="2200">
                <a:solidFill>
                  <a:srgbClr val="263142"/>
                </a:solidFill>
                <a:latin typeface="Aptos"/>
              </a:rPr>
              <a:t>Use analytics and forecasting to support faster business decisions.</a:t>
            </a:r>
            <a:endParaRPr lang="en-US" sz="2200"/>
          </a:p>
        </p:txBody>
      </p:sp>
      <p:sp>
        <p:nvSpPr>
          <p:cNvPr id="91" name="Text 91"/>
          <p:cNvSpPr txBox="1"/>
          <p:nvPr/>
        </p:nvSpPr>
        <p:spPr>
          <a:xfrm>
            <a:off x="685800" y="6500000"/>
            <a:ext cx="22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200" b="0">
                <a:solidFill>
                  <a:srgbClr val="637083"/>
                </a:solidFill>
                <a:latin typeface="Aptos"/>
              </a:rPr>
              <a:t>03</a:t>
            </a:r>
            <a:endParaRPr lang="en-US"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Accent"/>
          <p:cNvSpPr/>
          <p:nvPr/>
        </p:nvSpPr>
        <p:spPr>
          <a:xfrm>
            <a:off x="0" y="0"/>
            <a:ext cx="12191999" cy="152400"/>
          </a:xfrm>
          <a:prstGeom prst="rect">
            <a:avLst/>
          </a:prstGeom>
          <a:solidFill>
            <a:srgbClr val="1E8A8A"/>
          </a:solidFill>
          <a:ln>
            <a:noFill/>
          </a:ln>
        </p:spPr>
      </p:sp>
      <p:sp>
        <p:nvSpPr>
          <p:cNvPr id="2" name="Text 2"/>
          <p:cNvSpPr txBox="1"/>
          <p:nvPr/>
        </p:nvSpPr>
        <p:spPr>
          <a:xfrm>
            <a:off x="685800" y="515000"/>
            <a:ext cx="88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3400" b="1">
                <a:solidFill>
                  <a:srgbClr val="162033"/>
                </a:solidFill>
                <a:latin typeface="Aptos"/>
              </a:rPr>
              <a:t>Proposed Solution</a:t>
            </a:r>
            <a:endParaRPr lang="en-US" sz="3400"/>
          </a:p>
        </p:txBody>
      </p:sp>
      <p:sp>
        <p:nvSpPr>
          <p:cNvPr id="3" name="Bullets 3"/>
          <p:cNvSpPr txBox="1"/>
          <p:nvPr/>
        </p:nvSpPr>
        <p:spPr>
          <a:xfrm>
            <a:off x="685800" y="1450000"/>
            <a:ext cx="5200000" cy="38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285750" indent="-171450">
              <a:buChar char="•"/>
            </a:pPr>
            <a:r>
              <a:rPr lang="en-US" sz="2200">
                <a:solidFill>
                  <a:srgbClr val="263142"/>
                </a:solidFill>
                <a:latin typeface="Aptos"/>
              </a:rPr>
              <a:t>Customer storefront with product browsing, cart, checkout, and order tracking.</a:t>
            </a:r>
            <a:endParaRPr lang="en-US" sz="2200"/>
          </a:p>
          <a:p>
            <a:pPr marL="285750" indent="-171450">
              <a:buChar char="•"/>
            </a:pPr>
            <a:r>
              <a:rPr lang="en-US" sz="2200">
                <a:solidFill>
                  <a:srgbClr val="263142"/>
                </a:solidFill>
                <a:latin typeface="Aptos"/>
              </a:rPr>
              <a:t>Admin dashboard for KPIs, orders, users, vendors, inventory alerts, and audit activity.</a:t>
            </a:r>
            <a:endParaRPr lang="en-US" sz="2200"/>
          </a:p>
          <a:p>
            <a:pPr marL="285750" indent="-171450">
              <a:buChar char="•"/>
            </a:pPr>
            <a:r>
              <a:rPr lang="en-US" sz="2200">
                <a:solidFill>
                  <a:srgbClr val="263142"/>
                </a:solidFill>
                <a:latin typeface="Aptos"/>
              </a:rPr>
              <a:t>Vendor dashboard for product management, inventory updates, and order handling.</a:t>
            </a:r>
            <a:endParaRPr lang="en-US" sz="2200"/>
          </a:p>
        </p:txBody>
      </p:sp>
      <p:pic>
        <p:nvPicPr>
          <p:cNvPr id="4" name="Project visual"/>
          <p:cNvPicPr/>
          <p:nvPr/>
        </p:nvPicPr>
        <p:blipFill>
          <a:blip r:embed="rId2"/>
          <a:stretch>
            <a:fillRect/>
          </a:stretch>
        </p:blipFill>
        <p:spPr>
          <a:xfrm>
            <a:off x="6400000" y="1500000"/>
            <a:ext cx="5200000" cy="3300000"/>
          </a:xfrm>
          <a:prstGeom prst="rect">
            <a:avLst/>
          </a:prstGeom>
          <a:ln>
            <a:solidFill>
              <a:srgbClr val="D7DEE8"/>
            </a:solidFill>
          </a:ln>
        </p:spPr>
      </p:pic>
      <p:sp>
        <p:nvSpPr>
          <p:cNvPr id="91" name="Text 91"/>
          <p:cNvSpPr txBox="1"/>
          <p:nvPr/>
        </p:nvSpPr>
        <p:spPr>
          <a:xfrm>
            <a:off x="685800" y="6500000"/>
            <a:ext cx="22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200" b="0">
                <a:solidFill>
                  <a:srgbClr val="637083"/>
                </a:solidFill>
                <a:latin typeface="Aptos"/>
              </a:rPr>
              <a:t>04</a:t>
            </a:r>
            <a:endParaRPr lang="en-US"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Accent"/>
          <p:cNvSpPr/>
          <p:nvPr/>
        </p:nvSpPr>
        <p:spPr>
          <a:xfrm>
            <a:off x="0" y="0"/>
            <a:ext cx="12191999" cy="152400"/>
          </a:xfrm>
          <a:prstGeom prst="rect">
            <a:avLst/>
          </a:prstGeom>
          <a:solidFill>
            <a:srgbClr val="1E8A8A"/>
          </a:solidFill>
          <a:ln>
            <a:noFill/>
          </a:ln>
        </p:spPr>
      </p:sp>
      <p:sp>
        <p:nvSpPr>
          <p:cNvPr id="2" name="Text 2"/>
          <p:cNvSpPr txBox="1"/>
          <p:nvPr/>
        </p:nvSpPr>
        <p:spPr>
          <a:xfrm>
            <a:off x="685800" y="515000"/>
            <a:ext cx="88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3400" b="1">
                <a:solidFill>
                  <a:srgbClr val="162033"/>
                </a:solidFill>
                <a:latin typeface="Aptos"/>
              </a:rPr>
              <a:t>System Architecture</a:t>
            </a:r>
            <a:endParaRPr lang="en-US" sz="3400"/>
          </a:p>
        </p:txBody>
      </p:sp>
      <p:sp>
        <p:nvSpPr>
          <p:cNvPr id="3" name="Bullets 3"/>
          <p:cNvSpPr txBox="1"/>
          <p:nvPr/>
        </p:nvSpPr>
        <p:spPr>
          <a:xfrm>
            <a:off x="685800" y="1450000"/>
            <a:ext cx="5200000" cy="38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285750" indent="-171450">
              <a:buChar char="•"/>
            </a:pPr>
            <a:r>
              <a:rPr lang="en-US" sz="2200">
                <a:solidFill>
                  <a:srgbClr val="263142"/>
                </a:solidFill>
                <a:latin typeface="Aptos"/>
              </a:rPr>
              <a:t>Next.js frontend communicates with an Express REST API.</a:t>
            </a:r>
            <a:endParaRPr lang="en-US" sz="2200"/>
          </a:p>
          <a:p>
            <a:pPr marL="285750" indent="-171450">
              <a:buChar char="•"/>
            </a:pPr>
            <a:r>
              <a:rPr lang="en-US" sz="2200">
                <a:solidFill>
                  <a:srgbClr val="263142"/>
                </a:solidFill>
                <a:latin typeface="Aptos"/>
              </a:rPr>
              <a:t>MongoDB Atlas stores users, roles, products, categories, orders, and audit logs.</a:t>
            </a:r>
            <a:endParaRPr lang="en-US" sz="2200"/>
          </a:p>
          <a:p>
            <a:pPr marL="285750" indent="-171450">
              <a:buChar char="•"/>
            </a:pPr>
            <a:r>
              <a:rPr lang="en-US" sz="2200">
                <a:solidFill>
                  <a:srgbClr val="263142"/>
                </a:solidFill>
                <a:latin typeface="Aptos"/>
              </a:rPr>
              <a:t>JWT authentication with httpOnly cookies protects role-based routes.</a:t>
            </a:r>
            <a:endParaRPr lang="en-US" sz="2200"/>
          </a:p>
        </p:txBody>
      </p:sp>
      <p:pic>
        <p:nvPicPr>
          <p:cNvPr id="4" name="Project visual"/>
          <p:cNvPicPr/>
          <p:nvPr/>
        </p:nvPicPr>
        <p:blipFill>
          <a:blip r:embed="rId2"/>
          <a:stretch>
            <a:fillRect/>
          </a:stretch>
        </p:blipFill>
        <p:spPr>
          <a:xfrm>
            <a:off x="6400000" y="1500000"/>
            <a:ext cx="5200000" cy="3300000"/>
          </a:xfrm>
          <a:prstGeom prst="rect">
            <a:avLst/>
          </a:prstGeom>
          <a:ln>
            <a:solidFill>
              <a:srgbClr val="D7DEE8"/>
            </a:solidFill>
          </a:ln>
        </p:spPr>
      </p:pic>
      <p:sp>
        <p:nvSpPr>
          <p:cNvPr id="91" name="Text 91"/>
          <p:cNvSpPr txBox="1"/>
          <p:nvPr/>
        </p:nvSpPr>
        <p:spPr>
          <a:xfrm>
            <a:off x="685800" y="6500000"/>
            <a:ext cx="22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200" b="0">
                <a:solidFill>
                  <a:srgbClr val="637083"/>
                </a:solidFill>
                <a:latin typeface="Aptos"/>
              </a:rPr>
              <a:t>05</a:t>
            </a:r>
            <a:endParaRPr lang="en-US" sz="1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Accent"/>
          <p:cNvSpPr/>
          <p:nvPr/>
        </p:nvSpPr>
        <p:spPr>
          <a:xfrm>
            <a:off x="0" y="0"/>
            <a:ext cx="12191999" cy="152400"/>
          </a:xfrm>
          <a:prstGeom prst="rect">
            <a:avLst/>
          </a:prstGeom>
          <a:solidFill>
            <a:srgbClr val="1E8A8A"/>
          </a:solidFill>
          <a:ln>
            <a:noFill/>
          </a:ln>
        </p:spPr>
      </p:sp>
      <p:sp>
        <p:nvSpPr>
          <p:cNvPr id="2" name="Text 2"/>
          <p:cNvSpPr txBox="1"/>
          <p:nvPr/>
        </p:nvSpPr>
        <p:spPr>
          <a:xfrm>
            <a:off x="685800" y="515000"/>
            <a:ext cx="88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3400" b="1">
                <a:solidFill>
                  <a:srgbClr val="162033"/>
                </a:solidFill>
                <a:latin typeface="Aptos"/>
              </a:rPr>
              <a:t>Core Features</a:t>
            </a:r>
            <a:endParaRPr lang="en-US" sz="3400"/>
          </a:p>
        </p:txBody>
      </p:sp>
      <p:sp>
        <p:nvSpPr>
          <p:cNvPr id="3" name="Bullets 3"/>
          <p:cNvSpPr txBox="1"/>
          <p:nvPr/>
        </p:nvSpPr>
        <p:spPr>
          <a:xfrm>
            <a:off x="1050000" y="1650000"/>
            <a:ext cx="10300000" cy="3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285750" indent="-171450">
              <a:buChar char="•"/>
            </a:pPr>
            <a:r>
              <a:rPr lang="en-US" sz="2200">
                <a:solidFill>
                  <a:srgbClr val="263142"/>
                </a:solidFill>
                <a:latin typeface="Aptos"/>
              </a:rPr>
              <a:t>Secure login and role-based access control.</a:t>
            </a:r>
            <a:endParaRPr lang="en-US" sz="2200"/>
          </a:p>
          <a:p>
            <a:pPr marL="285750" indent="-171450">
              <a:buChar char="•"/>
            </a:pPr>
            <a:r>
              <a:rPr lang="en-US" sz="2200">
                <a:solidFill>
                  <a:srgbClr val="263142"/>
                </a:solidFill>
                <a:latin typeface="Aptos"/>
              </a:rPr>
              <a:t>Product catalog, category filtering, cart, checkout, and order confirmation.</a:t>
            </a:r>
            <a:endParaRPr lang="en-US" sz="2200"/>
          </a:p>
          <a:p>
            <a:pPr marL="285750" indent="-171450">
              <a:buChar char="•"/>
            </a:pPr>
            <a:r>
              <a:rPr lang="en-US" sz="2200">
                <a:solidFill>
                  <a:srgbClr val="263142"/>
                </a:solidFill>
                <a:latin typeface="Aptos"/>
              </a:rPr>
              <a:t>Admin and vendor tools for inventory, users, vendors, and order status updates.</a:t>
            </a:r>
            <a:endParaRPr lang="en-US" sz="2200"/>
          </a:p>
        </p:txBody>
      </p:sp>
      <p:sp>
        <p:nvSpPr>
          <p:cNvPr id="91" name="Text 91"/>
          <p:cNvSpPr txBox="1"/>
          <p:nvPr/>
        </p:nvSpPr>
        <p:spPr>
          <a:xfrm>
            <a:off x="685800" y="6500000"/>
            <a:ext cx="22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200" b="0">
                <a:solidFill>
                  <a:srgbClr val="637083"/>
                </a:solidFill>
                <a:latin typeface="Aptos"/>
              </a:rPr>
              <a:t>06</a:t>
            </a:r>
            <a:endParaRPr lang="en-US" sz="1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Accent"/>
          <p:cNvSpPr/>
          <p:nvPr/>
        </p:nvSpPr>
        <p:spPr>
          <a:xfrm>
            <a:off x="0" y="0"/>
            <a:ext cx="12191999" cy="152400"/>
          </a:xfrm>
          <a:prstGeom prst="rect">
            <a:avLst/>
          </a:prstGeom>
          <a:solidFill>
            <a:srgbClr val="1E8A8A"/>
          </a:solidFill>
          <a:ln>
            <a:noFill/>
          </a:ln>
        </p:spPr>
      </p:sp>
      <p:sp>
        <p:nvSpPr>
          <p:cNvPr id="2" name="Text 2"/>
          <p:cNvSpPr txBox="1"/>
          <p:nvPr/>
        </p:nvSpPr>
        <p:spPr>
          <a:xfrm>
            <a:off x="685800" y="515000"/>
            <a:ext cx="88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3400" b="1">
                <a:solidFill>
                  <a:srgbClr val="162033"/>
                </a:solidFill>
                <a:latin typeface="Aptos"/>
              </a:rPr>
              <a:t>Order Workflow</a:t>
            </a:r>
            <a:endParaRPr lang="en-US" sz="3400"/>
          </a:p>
        </p:txBody>
      </p:sp>
      <p:sp>
        <p:nvSpPr>
          <p:cNvPr id="3" name="Bullets 3"/>
          <p:cNvSpPr txBox="1"/>
          <p:nvPr/>
        </p:nvSpPr>
        <p:spPr>
          <a:xfrm>
            <a:off x="685800" y="1450000"/>
            <a:ext cx="5200000" cy="38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285750" indent="-171450">
              <a:buChar char="•"/>
            </a:pPr>
            <a:r>
              <a:rPr lang="en-US" sz="2200">
                <a:solidFill>
                  <a:srgbClr val="263142"/>
                </a:solidFill>
                <a:latin typeface="Aptos"/>
              </a:rPr>
              <a:t>Customers place orders from cart and checkout.</a:t>
            </a:r>
            <a:endParaRPr lang="en-US" sz="2200"/>
          </a:p>
          <a:p>
            <a:pPr marL="285750" indent="-171450">
              <a:buChar char="•"/>
            </a:pPr>
            <a:r>
              <a:rPr lang="en-US" sz="2200">
                <a:solidFill>
                  <a:srgbClr val="263142"/>
                </a:solidFill>
                <a:latin typeface="Aptos"/>
              </a:rPr>
              <a:t>Admins or vendors move orders through pending, processing, shipped, and delivered.</a:t>
            </a:r>
            <a:endParaRPr lang="en-US" sz="2200"/>
          </a:p>
          <a:p>
            <a:pPr marL="285750" indent="-171450">
              <a:buChar char="•"/>
            </a:pPr>
            <a:r>
              <a:rPr lang="en-US" sz="2200">
                <a:solidFill>
                  <a:srgbClr val="263142"/>
                </a:solidFill>
                <a:latin typeface="Aptos"/>
              </a:rPr>
              <a:t>Tracking events keep customers informed from placement to delivery.</a:t>
            </a:r>
            <a:endParaRPr lang="en-US" sz="2200"/>
          </a:p>
        </p:txBody>
      </p:sp>
      <p:pic>
        <p:nvPicPr>
          <p:cNvPr id="4" name="Project visual"/>
          <p:cNvPicPr/>
          <p:nvPr/>
        </p:nvPicPr>
        <p:blipFill>
          <a:blip r:embed="rId2"/>
          <a:stretch>
            <a:fillRect/>
          </a:stretch>
        </p:blipFill>
        <p:spPr>
          <a:xfrm>
            <a:off x="6400000" y="1500000"/>
            <a:ext cx="5200000" cy="3300000"/>
          </a:xfrm>
          <a:prstGeom prst="rect">
            <a:avLst/>
          </a:prstGeom>
          <a:ln>
            <a:solidFill>
              <a:srgbClr val="D7DEE8"/>
            </a:solidFill>
          </a:ln>
        </p:spPr>
      </p:pic>
      <p:sp>
        <p:nvSpPr>
          <p:cNvPr id="91" name="Text 91"/>
          <p:cNvSpPr txBox="1"/>
          <p:nvPr/>
        </p:nvSpPr>
        <p:spPr>
          <a:xfrm>
            <a:off x="685800" y="6500000"/>
            <a:ext cx="22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200" b="0">
                <a:solidFill>
                  <a:srgbClr val="637083"/>
                </a:solidFill>
                <a:latin typeface="Aptos"/>
              </a:rPr>
              <a:t>07</a:t>
            </a:r>
            <a:endParaRPr lang="en-US" sz="1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Accent"/>
          <p:cNvSpPr/>
          <p:nvPr/>
        </p:nvSpPr>
        <p:spPr>
          <a:xfrm>
            <a:off x="0" y="0"/>
            <a:ext cx="12191999" cy="152400"/>
          </a:xfrm>
          <a:prstGeom prst="rect">
            <a:avLst/>
          </a:prstGeom>
          <a:solidFill>
            <a:srgbClr val="1E8A8A"/>
          </a:solidFill>
          <a:ln>
            <a:noFill/>
          </a:ln>
        </p:spPr>
      </p:sp>
      <p:sp>
        <p:nvSpPr>
          <p:cNvPr id="2" name="Text 2"/>
          <p:cNvSpPr txBox="1"/>
          <p:nvPr/>
        </p:nvSpPr>
        <p:spPr>
          <a:xfrm>
            <a:off x="685800" y="515000"/>
            <a:ext cx="88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3400" b="1">
                <a:solidFill>
                  <a:srgbClr val="162033"/>
                </a:solidFill>
                <a:latin typeface="Aptos"/>
              </a:rPr>
              <a:t>Demand Forecasting</a:t>
            </a:r>
            <a:endParaRPr lang="en-US" sz="3400"/>
          </a:p>
        </p:txBody>
      </p:sp>
      <p:sp>
        <p:nvSpPr>
          <p:cNvPr id="3" name="Bullets 3"/>
          <p:cNvSpPr txBox="1"/>
          <p:nvPr/>
        </p:nvSpPr>
        <p:spPr>
          <a:xfrm>
            <a:off x="685800" y="1450000"/>
            <a:ext cx="5200000" cy="38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285750" indent="-171450">
              <a:buChar char="•"/>
            </a:pPr>
            <a:r>
              <a:rPr lang="en-US" sz="2200">
                <a:solidFill>
                  <a:srgbClr val="263142"/>
                </a:solidFill>
                <a:latin typeface="Aptos"/>
              </a:rPr>
              <a:t>Sales history is grouped into weekly demand buckets.</a:t>
            </a:r>
            <a:endParaRPr lang="en-US" sz="2200"/>
          </a:p>
          <a:p>
            <a:pPr marL="285750" indent="-171450">
              <a:buChar char="•"/>
            </a:pPr>
            <a:r>
              <a:rPr lang="en-US" sz="2200">
                <a:solidFill>
                  <a:srgbClr val="263142"/>
                </a:solidFill>
                <a:latin typeface="Aptos"/>
              </a:rPr>
              <a:t>Python forecasting ranks products by predicted units and trend.</a:t>
            </a:r>
            <a:endParaRPr lang="en-US" sz="2200"/>
          </a:p>
          <a:p>
            <a:pPr marL="285750" indent="-171450">
              <a:buChar char="•"/>
            </a:pPr>
            <a:r>
              <a:rPr lang="en-US" sz="2200">
                <a:solidFill>
                  <a:srgbClr val="263142"/>
                </a:solidFill>
                <a:latin typeface="Aptos"/>
              </a:rPr>
              <a:t>Forecast output helps prioritize restocking and reduce low-stock risk.</a:t>
            </a:r>
            <a:endParaRPr lang="en-US" sz="2200"/>
          </a:p>
        </p:txBody>
      </p:sp>
      <p:pic>
        <p:nvPicPr>
          <p:cNvPr id="4" name="Project visual"/>
          <p:cNvPicPr/>
          <p:nvPr/>
        </p:nvPicPr>
        <p:blipFill>
          <a:blip r:embed="rId2"/>
          <a:stretch>
            <a:fillRect/>
          </a:stretch>
        </p:blipFill>
        <p:spPr>
          <a:xfrm>
            <a:off x="6400000" y="1500000"/>
            <a:ext cx="5200000" cy="3300000"/>
          </a:xfrm>
          <a:prstGeom prst="rect">
            <a:avLst/>
          </a:prstGeom>
          <a:ln>
            <a:solidFill>
              <a:srgbClr val="D7DEE8"/>
            </a:solidFill>
          </a:ln>
        </p:spPr>
      </p:pic>
      <p:sp>
        <p:nvSpPr>
          <p:cNvPr id="91" name="Text 91"/>
          <p:cNvSpPr txBox="1"/>
          <p:nvPr/>
        </p:nvSpPr>
        <p:spPr>
          <a:xfrm>
            <a:off x="685800" y="6500000"/>
            <a:ext cx="22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200" b="0">
                <a:solidFill>
                  <a:srgbClr val="637083"/>
                </a:solidFill>
                <a:latin typeface="Aptos"/>
              </a:rPr>
              <a:t>08</a:t>
            </a:r>
            <a:endParaRPr lang="en-US" sz="1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Accent"/>
          <p:cNvSpPr/>
          <p:nvPr/>
        </p:nvSpPr>
        <p:spPr>
          <a:xfrm>
            <a:off x="0" y="0"/>
            <a:ext cx="12191999" cy="152400"/>
          </a:xfrm>
          <a:prstGeom prst="rect">
            <a:avLst/>
          </a:prstGeom>
          <a:solidFill>
            <a:srgbClr val="1E8A8A"/>
          </a:solidFill>
          <a:ln>
            <a:noFill/>
          </a:ln>
        </p:spPr>
      </p:sp>
      <p:sp>
        <p:nvSpPr>
          <p:cNvPr id="2" name="Text 2"/>
          <p:cNvSpPr txBox="1"/>
          <p:nvPr/>
        </p:nvSpPr>
        <p:spPr>
          <a:xfrm>
            <a:off x="685800" y="515000"/>
            <a:ext cx="88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3400" b="1">
                <a:solidFill>
                  <a:srgbClr val="162033"/>
                </a:solidFill>
                <a:latin typeface="Aptos"/>
              </a:rPr>
              <a:t>Business Value</a:t>
            </a:r>
            <a:endParaRPr lang="en-US" sz="3400"/>
          </a:p>
        </p:txBody>
      </p:sp>
      <p:sp>
        <p:nvSpPr>
          <p:cNvPr id="3" name="Bullets 3"/>
          <p:cNvSpPr txBox="1"/>
          <p:nvPr/>
        </p:nvSpPr>
        <p:spPr>
          <a:xfrm>
            <a:off x="685800" y="1450000"/>
            <a:ext cx="5200000" cy="38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285750" indent="-171450">
              <a:buChar char="•"/>
            </a:pPr>
            <a:r>
              <a:rPr lang="en-US" sz="2200">
                <a:solidFill>
                  <a:srgbClr val="263142"/>
                </a:solidFill>
                <a:latin typeface="Aptos"/>
              </a:rPr>
              <a:t>Improves operational visibility across products, users, vendors, and orders.</a:t>
            </a:r>
            <a:endParaRPr lang="en-US" sz="2200"/>
          </a:p>
          <a:p>
            <a:pPr marL="285750" indent="-171450">
              <a:buChar char="•"/>
            </a:pPr>
            <a:r>
              <a:rPr lang="en-US" sz="2200">
                <a:solidFill>
                  <a:srgbClr val="263142"/>
                </a:solidFill>
                <a:latin typeface="Aptos"/>
              </a:rPr>
              <a:t>Reduces missed sales by highlighting low stock and future demand.</a:t>
            </a:r>
            <a:endParaRPr lang="en-US" sz="2200"/>
          </a:p>
          <a:p>
            <a:pPr marL="285750" indent="-171450">
              <a:buChar char="•"/>
            </a:pPr>
            <a:r>
              <a:rPr lang="en-US" sz="2200">
                <a:solidFill>
                  <a:srgbClr val="263142"/>
                </a:solidFill>
                <a:latin typeface="Aptos"/>
              </a:rPr>
              <a:t>Creates a scalable base for recommendation engines and advanced analytics.</a:t>
            </a:r>
            <a:endParaRPr lang="en-US" sz="2200"/>
          </a:p>
        </p:txBody>
      </p:sp>
      <p:pic>
        <p:nvPicPr>
          <p:cNvPr id="4" name="Project visual"/>
          <p:cNvPicPr/>
          <p:nvPr/>
        </p:nvPicPr>
        <p:blipFill>
          <a:blip r:embed="rId2"/>
          <a:stretch>
            <a:fillRect/>
          </a:stretch>
        </p:blipFill>
        <p:spPr>
          <a:xfrm>
            <a:off x="6400000" y="1500000"/>
            <a:ext cx="5200000" cy="3300000"/>
          </a:xfrm>
          <a:prstGeom prst="rect">
            <a:avLst/>
          </a:prstGeom>
          <a:ln>
            <a:solidFill>
              <a:srgbClr val="D7DEE8"/>
            </a:solidFill>
          </a:ln>
        </p:spPr>
      </p:pic>
      <p:sp>
        <p:nvSpPr>
          <p:cNvPr id="91" name="Text 91"/>
          <p:cNvSpPr txBox="1"/>
          <p:nvPr/>
        </p:nvSpPr>
        <p:spPr>
          <a:xfrm>
            <a:off x="685800" y="6500000"/>
            <a:ext cx="22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200" b="0">
                <a:solidFill>
                  <a:srgbClr val="637083"/>
                </a:solidFill>
                <a:latin typeface="Aptos"/>
              </a:rPr>
              <a:t>09</a:t>
            </a:r>
            <a:endParaRPr lang="en-US" sz="1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Accent"/>
          <p:cNvSpPr/>
          <p:nvPr/>
        </p:nvSpPr>
        <p:spPr>
          <a:xfrm>
            <a:off x="0" y="0"/>
            <a:ext cx="12191999" cy="152400"/>
          </a:xfrm>
          <a:prstGeom prst="rect">
            <a:avLst/>
          </a:prstGeom>
          <a:solidFill>
            <a:srgbClr val="1E8A8A"/>
          </a:solidFill>
          <a:ln>
            <a:noFill/>
          </a:ln>
        </p:spPr>
      </p:sp>
      <p:sp>
        <p:nvSpPr>
          <p:cNvPr id="2" name="Text 2"/>
          <p:cNvSpPr txBox="1"/>
          <p:nvPr/>
        </p:nvSpPr>
        <p:spPr>
          <a:xfrm>
            <a:off x="685800" y="515000"/>
            <a:ext cx="88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3400" b="1">
                <a:solidFill>
                  <a:srgbClr val="162033"/>
                </a:solidFill>
                <a:latin typeface="Aptos"/>
              </a:rPr>
              <a:t>Conclusion</a:t>
            </a:r>
            <a:endParaRPr lang="en-US" sz="3400"/>
          </a:p>
        </p:txBody>
      </p:sp>
      <p:sp>
        <p:nvSpPr>
          <p:cNvPr id="3" name="Bullets 3"/>
          <p:cNvSpPr txBox="1"/>
          <p:nvPr/>
        </p:nvSpPr>
        <p:spPr>
          <a:xfrm>
            <a:off x="1050000" y="1650000"/>
            <a:ext cx="10300000" cy="3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285750" indent="-171450">
              <a:buChar char="•"/>
            </a:pPr>
            <a:r>
              <a:rPr lang="en-US" sz="2200">
                <a:solidFill>
                  <a:srgbClr val="263142"/>
                </a:solidFill>
                <a:latin typeface="Aptos"/>
              </a:rPr>
              <a:t>Smart Commerce solves core e-commerce management problems with one integrated platform.</a:t>
            </a:r>
            <a:endParaRPr lang="en-US" sz="2200"/>
          </a:p>
          <a:p>
            <a:pPr marL="285750" indent="-171450">
              <a:buChar char="•"/>
            </a:pPr>
            <a:r>
              <a:rPr lang="en-US" sz="2200">
                <a:solidFill>
                  <a:srgbClr val="263142"/>
                </a:solidFill>
                <a:latin typeface="Aptos"/>
              </a:rPr>
              <a:t>The system combines clean user experience, secure backend services, and data-driven decisions.</a:t>
            </a:r>
            <a:endParaRPr lang="en-US" sz="2200"/>
          </a:p>
          <a:p>
            <a:pPr marL="285750" indent="-171450">
              <a:buChar char="•"/>
            </a:pPr>
            <a:r>
              <a:rPr lang="en-US" sz="2200">
                <a:solidFill>
                  <a:srgbClr val="263142"/>
                </a:solidFill>
                <a:latin typeface="Aptos"/>
              </a:rPr>
              <a:t>Future work can add deeper AI recommendations, payment integration, and automated deployment.</a:t>
            </a:r>
            <a:endParaRPr lang="en-US" sz="2200"/>
          </a:p>
        </p:txBody>
      </p:sp>
      <p:sp>
        <p:nvSpPr>
          <p:cNvPr id="91" name="Text 91"/>
          <p:cNvSpPr txBox="1"/>
          <p:nvPr/>
        </p:nvSpPr>
        <p:spPr>
          <a:xfrm>
            <a:off x="685800" y="6500000"/>
            <a:ext cx="22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200" b="0">
                <a:solidFill>
                  <a:srgbClr val="637083"/>
                </a:solidFill>
                <a:latin typeface="Aptos"/>
              </a:rPr>
              <a:t>10</a:t>
            </a:r>
            <a:endParaRPr lang="en-US"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mart Commerce">
  <a:themeElements>
    <a:clrScheme name="Smart Commerce">
      <a:dk1>
        <a:srgbClr val="162033"/>
      </a:dk1>
      <a:lt1>
        <a:srgbClr val="FFFFFF"/>
      </a:lt1>
      <a:dk2>
        <a:srgbClr val="263142"/>
      </a:dk2>
      <a:lt2>
        <a:srgbClr val="F6F8FB"/>
      </a:lt2>
      <a:accent1>
        <a:srgbClr val="1E8A8A"/>
      </a:accent1>
      <a:accent2>
        <a:srgbClr val="37A169"/>
      </a:accent2>
      <a:accent3>
        <a:srgbClr val="F2C94C"/>
      </a:accent3>
      <a:accent4>
        <a:srgbClr val="E07A5F"/>
      </a:accent4>
      <a:accent5>
        <a:srgbClr val="5B6C8F"/>
      </a:accent5>
      <a:accent6>
        <a:srgbClr val="8A7CCF"/>
      </a:accent6>
      <a:hlink>
        <a:srgbClr val="1E8A8A"/>
      </a:hlink>
      <a:folHlink>
        <a:srgbClr val="5B6C8F"/>
      </a:folHlink>
    </a:clrScheme>
    <a:fontScheme name="Aptos">
      <a:majorFont>
        <a:latin typeface="Aptos"/>
      </a:majorFont>
      <a:minorFont>
        <a:latin typeface="Aptos"/>
      </a:minorFont>
    </a:fontScheme>
    <a:fmtScheme name="Clean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10</Slides>
  <Notes>0</Notes>
  <HiddenSlides>0</Hidden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Commerce Problem Solving Presentation</dc:title>
  <dc:creator>Codex</dc:creator>
  <cp:lastModifiedBy>Codex</cp:lastModifiedBy>
  <dcterms:created xsi:type="dcterms:W3CDTF">2026-06-14T06:13:31Z</dcterms:created>
  <dcterms:modified xsi:type="dcterms:W3CDTF">2026-06-14T06:13:31Z</dcterms:modified>
</cp:coreProperties>
</file>